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66"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0" d="100"/>
          <a:sy n="70" d="100"/>
        </p:scale>
        <p:origin x="508" y="3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14CECA5-D292-4BA9-B12E-C362FCF366CB}"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3022440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4CECA5-D292-4BA9-B12E-C362FCF366CB}"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1306695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14CECA5-D292-4BA9-B12E-C362FCF366CB}"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270556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14CECA5-D292-4BA9-B12E-C362FCF366CB}"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407933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14CECA5-D292-4BA9-B12E-C362FCF366CB}"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3465974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14CECA5-D292-4BA9-B12E-C362FCF366CB}"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330066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4CECA5-D292-4BA9-B12E-C362FCF366CB}"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453700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4CECA5-D292-4BA9-B12E-C362FCF366CB}"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1227709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4CECA5-D292-4BA9-B12E-C362FCF366CB}"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3269840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4CECA5-D292-4BA9-B12E-C362FCF366CB}"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27658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4CECA5-D292-4BA9-B12E-C362FCF366CB}"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503105-54EF-4FB2-AD05-BE8B7CDC6D1D}" type="slidenum">
              <a:rPr lang="en-IN" smtClean="0"/>
              <a:t>‹#›</a:t>
            </a:fld>
            <a:endParaRPr lang="en-IN"/>
          </a:p>
        </p:txBody>
      </p:sp>
    </p:spTree>
    <p:extLst>
      <p:ext uri="{BB962C8B-B14F-4D97-AF65-F5344CB8AC3E}">
        <p14:creationId xmlns:p14="http://schemas.microsoft.com/office/powerpoint/2010/main" val="3083442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4CECA5-D292-4BA9-B12E-C362FCF366CB}" type="datetimeFigureOut">
              <a:rPr lang="en-IN" smtClean="0"/>
              <a:t>03-11-2025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503105-54EF-4FB2-AD05-BE8B7CDC6D1D}" type="slidenum">
              <a:rPr lang="en-IN" smtClean="0"/>
              <a:t>‹#›</a:t>
            </a:fld>
            <a:endParaRPr lang="en-IN"/>
          </a:p>
        </p:txBody>
      </p:sp>
    </p:spTree>
    <p:extLst>
      <p:ext uri="{BB962C8B-B14F-4D97-AF65-F5344CB8AC3E}">
        <p14:creationId xmlns:p14="http://schemas.microsoft.com/office/powerpoint/2010/main" val="2725868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p:cNvSpPr txBox="1"/>
          <p:nvPr/>
        </p:nvSpPr>
        <p:spPr>
          <a:xfrm>
            <a:off x="69568" y="3692635"/>
            <a:ext cx="9741528" cy="461665"/>
          </a:xfrm>
          <a:prstGeom prst="rect">
            <a:avLst/>
          </a:prstGeom>
          <a:noFill/>
        </p:spPr>
        <p:txBody>
          <a:bodyPr wrap="square" rtlCol="0">
            <a:spAutoFit/>
          </a:bodyPr>
          <a:lstStyle/>
          <a:p>
            <a:pPr algn="ctr"/>
            <a:r>
              <a:rPr lang="en-US" sz="2400" b="1" dirty="0" smtClean="0"/>
              <a:t>Hotel Booking Trends and Customer Insights</a:t>
            </a:r>
            <a:endParaRPr lang="en-IN" sz="2400" b="1" dirty="0"/>
          </a:p>
        </p:txBody>
      </p:sp>
      <p:sp>
        <p:nvSpPr>
          <p:cNvPr id="9" name="TextBox 8"/>
          <p:cNvSpPr txBox="1"/>
          <p:nvPr/>
        </p:nvSpPr>
        <p:spPr>
          <a:xfrm>
            <a:off x="-550595" y="4697555"/>
            <a:ext cx="10981853" cy="461665"/>
          </a:xfrm>
          <a:prstGeom prst="rect">
            <a:avLst/>
          </a:prstGeom>
          <a:noFill/>
        </p:spPr>
        <p:txBody>
          <a:bodyPr wrap="square" rtlCol="0">
            <a:spAutoFit/>
          </a:bodyPr>
          <a:lstStyle/>
          <a:p>
            <a:pPr algn="ctr"/>
            <a:r>
              <a:rPr lang="en-US" sz="2400" b="1" dirty="0" smtClean="0">
                <a:latin typeface="Arial Rounded MT Bold" panose="020F0704030504030204" pitchFamily="34" charset="0"/>
              </a:rPr>
              <a:t>Design By :- Nishant </a:t>
            </a:r>
            <a:r>
              <a:rPr lang="en-US" sz="2400" b="1" dirty="0" err="1" smtClean="0">
                <a:latin typeface="Arial Rounded MT Bold" panose="020F0704030504030204" pitchFamily="34" charset="0"/>
              </a:rPr>
              <a:t>Nimbalkar</a:t>
            </a:r>
            <a:endParaRPr lang="en-IN" sz="2400" b="1" dirty="0">
              <a:latin typeface="Arial Rounded MT Bold" panose="020F0704030504030204" pitchFamily="34"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5178" y="730642"/>
            <a:ext cx="4752975" cy="4752975"/>
          </a:xfrm>
          <a:prstGeom prst="rect">
            <a:avLst/>
          </a:prstGeom>
          <a:effectLst>
            <a:outerShdw blurRad="76200" dir="13500000" sy="23000" kx="1200000" algn="br" rotWithShape="0">
              <a:prstClr val="black">
                <a:alpha val="20000"/>
              </a:prstClr>
            </a:outerShdw>
          </a:effectLst>
        </p:spPr>
      </p:pic>
      <p:sp>
        <p:nvSpPr>
          <p:cNvPr id="7" name="Rectangle 6"/>
          <p:cNvSpPr/>
          <p:nvPr/>
        </p:nvSpPr>
        <p:spPr>
          <a:xfrm>
            <a:off x="643428" y="1611967"/>
            <a:ext cx="8339142" cy="1754326"/>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HOTEL BOOKING DATA</a:t>
            </a:r>
          </a:p>
          <a:p>
            <a:pPr algn="ctr"/>
            <a:r>
              <a:rPr lang="en-US" sz="5400" b="1" dirty="0" smtClean="0">
                <a:ln w="0"/>
                <a:effectLst>
                  <a:outerShdw blurRad="38100" dist="19050" dir="2700000" algn="tl" rotWithShape="0">
                    <a:schemeClr val="dk1">
                      <a:alpha val="40000"/>
                    </a:schemeClr>
                  </a:outerShdw>
                </a:effectLst>
                <a:latin typeface="Baskerville Old Face" panose="02020602080505020303" pitchFamily="18" charset="0"/>
              </a:rPr>
              <a:t>ANALYSIS</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2" name="TextBox 1"/>
          <p:cNvSpPr txBox="1"/>
          <p:nvPr/>
        </p:nvSpPr>
        <p:spPr>
          <a:xfrm>
            <a:off x="-306153" y="5546944"/>
            <a:ext cx="10492967" cy="461665"/>
          </a:xfrm>
          <a:prstGeom prst="rect">
            <a:avLst/>
          </a:prstGeom>
          <a:noFill/>
        </p:spPr>
        <p:txBody>
          <a:bodyPr wrap="square" rtlCol="0">
            <a:spAutoFit/>
          </a:bodyPr>
          <a:lstStyle/>
          <a:p>
            <a:pPr algn="ctr"/>
            <a:r>
              <a:rPr lang="en-US" sz="2400" b="1" dirty="0" smtClean="0">
                <a:latin typeface="Arial Rounded MT Bold" panose="020F0704030504030204" pitchFamily="34" charset="0"/>
              </a:rPr>
              <a:t>Guided By :- </a:t>
            </a:r>
            <a:r>
              <a:rPr lang="en-US" sz="2400" b="1" dirty="0" err="1" smtClean="0">
                <a:latin typeface="Arial Rounded MT Bold" panose="020F0704030504030204" pitchFamily="34" charset="0"/>
              </a:rPr>
              <a:t>Abhishek</a:t>
            </a:r>
            <a:r>
              <a:rPr lang="en-US" sz="2400" b="1" dirty="0" smtClean="0">
                <a:latin typeface="Arial Rounded MT Bold" panose="020F0704030504030204" pitchFamily="34" charset="0"/>
              </a:rPr>
              <a:t> </a:t>
            </a:r>
            <a:r>
              <a:rPr lang="en-US" sz="2400" b="1" dirty="0" err="1" smtClean="0">
                <a:latin typeface="Arial Rounded MT Bold" panose="020F0704030504030204" pitchFamily="34" charset="0"/>
              </a:rPr>
              <a:t>Wavhal</a:t>
            </a:r>
            <a:endParaRPr lang="en-IN" sz="2400" b="1" dirty="0">
              <a:latin typeface="Arial Rounded MT Bold" panose="020F070403050403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6248" y="-806328"/>
            <a:ext cx="3541131" cy="2354968"/>
          </a:xfrm>
          <a:prstGeom prst="rect">
            <a:avLst/>
          </a:prstGeom>
        </p:spPr>
      </p:pic>
    </p:spTree>
    <p:extLst>
      <p:ext uri="{BB962C8B-B14F-4D97-AF65-F5344CB8AC3E}">
        <p14:creationId xmlns:p14="http://schemas.microsoft.com/office/powerpoint/2010/main" val="19443835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9545" cy="6858000"/>
          </a:xfrm>
          <a:prstGeom prst="rect">
            <a:avLst/>
          </a:prstGeom>
        </p:spPr>
      </p:pic>
      <p:sp>
        <p:nvSpPr>
          <p:cNvPr id="5" name="Rectangle 4"/>
          <p:cNvSpPr/>
          <p:nvPr/>
        </p:nvSpPr>
        <p:spPr>
          <a:xfrm>
            <a:off x="3353048" y="830717"/>
            <a:ext cx="5178085"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Table of Contents</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6" name="TextBox 5"/>
          <p:cNvSpPr txBox="1"/>
          <p:nvPr/>
        </p:nvSpPr>
        <p:spPr>
          <a:xfrm>
            <a:off x="778598" y="2154725"/>
            <a:ext cx="9306962" cy="3785652"/>
          </a:xfrm>
          <a:prstGeom prst="rect">
            <a:avLst/>
          </a:prstGeom>
          <a:noFill/>
        </p:spPr>
        <p:txBody>
          <a:bodyPr wrap="square" rtlCol="0">
            <a:spAutoFit/>
          </a:bodyPr>
          <a:lstStyle/>
          <a:p>
            <a:r>
              <a:rPr lang="en-US" sz="2400" b="1" dirty="0" smtClean="0"/>
              <a:t>1. Project Summary</a:t>
            </a:r>
          </a:p>
          <a:p>
            <a:r>
              <a:rPr lang="en-US" sz="2400" b="1" dirty="0" smtClean="0"/>
              <a:t>2. Project Overview</a:t>
            </a:r>
          </a:p>
          <a:p>
            <a:r>
              <a:rPr lang="en-US" sz="2400" b="1" dirty="0" smtClean="0"/>
              <a:t>3. About the Data</a:t>
            </a:r>
          </a:p>
          <a:p>
            <a:r>
              <a:rPr lang="en-US" sz="2400" b="1" dirty="0" smtClean="0"/>
              <a:t>4. Problem Statement</a:t>
            </a:r>
          </a:p>
          <a:p>
            <a:r>
              <a:rPr lang="en-US" sz="2400" b="1" dirty="0" smtClean="0"/>
              <a:t>5. Data Preparation</a:t>
            </a:r>
          </a:p>
          <a:p>
            <a:r>
              <a:rPr lang="en-US" sz="2400" b="1" dirty="0" smtClean="0"/>
              <a:t>6. Expected Outcomes</a:t>
            </a:r>
          </a:p>
          <a:p>
            <a:r>
              <a:rPr lang="en-US" sz="2400" b="1" dirty="0" smtClean="0"/>
              <a:t>7. Data Cleaning</a:t>
            </a:r>
          </a:p>
          <a:p>
            <a:r>
              <a:rPr lang="en-US" sz="2400" b="1" dirty="0" smtClean="0"/>
              <a:t>8. Data Visualization</a:t>
            </a:r>
          </a:p>
          <a:p>
            <a:r>
              <a:rPr lang="en-US" sz="2400" b="1" dirty="0"/>
              <a:t>9</a:t>
            </a:r>
            <a:r>
              <a:rPr lang="en-US" sz="2400" b="1" dirty="0" smtClean="0"/>
              <a:t>. Key Findings (Most preferred hotel, Most cancellations, Peak month)</a:t>
            </a:r>
          </a:p>
          <a:p>
            <a:r>
              <a:rPr lang="en-US" sz="2400" b="1" dirty="0" smtClean="0"/>
              <a:t>10.Conclusion</a:t>
            </a:r>
            <a:endParaRPr lang="en-IN" sz="2400" b="1" dirty="0"/>
          </a:p>
        </p:txBody>
      </p:sp>
    </p:spTree>
    <p:extLst>
      <p:ext uri="{BB962C8B-B14F-4D97-AF65-F5344CB8AC3E}">
        <p14:creationId xmlns:p14="http://schemas.microsoft.com/office/powerpoint/2010/main" val="2747132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5" y="0"/>
            <a:ext cx="12199545" cy="6858000"/>
          </a:xfrm>
          <a:prstGeom prst="rect">
            <a:avLst/>
          </a:prstGeom>
        </p:spPr>
      </p:pic>
      <p:sp>
        <p:nvSpPr>
          <p:cNvPr id="4" name="Rectangle 3"/>
          <p:cNvSpPr/>
          <p:nvPr/>
        </p:nvSpPr>
        <p:spPr>
          <a:xfrm>
            <a:off x="4251018" y="758289"/>
            <a:ext cx="3682418" cy="923330"/>
          </a:xfrm>
          <a:prstGeom prst="rect">
            <a:avLst/>
          </a:prstGeom>
          <a:noFill/>
        </p:spPr>
        <p:txBody>
          <a:bodyPr wrap="none" lIns="91440" tIns="45720" rIns="91440" bIns="45720">
            <a:spAutoFit/>
          </a:bodyPr>
          <a:lstStyle/>
          <a:p>
            <a:pPr algn="ctr"/>
            <a:r>
              <a:rPr lang="en-US" sz="5400" dirty="0" smtClean="0">
                <a:ln w="0"/>
                <a:effectLst>
                  <a:outerShdw blurRad="38100" dist="19050" dir="2700000" algn="tl" rotWithShape="0">
                    <a:schemeClr val="dk1">
                      <a:alpha val="40000"/>
                    </a:schemeClr>
                  </a:outerShdw>
                </a:effectLst>
                <a:latin typeface="Baskerville Old Face" panose="02020602080505020303" pitchFamily="18" charset="0"/>
              </a:rPr>
              <a:t>SUMMARY</a:t>
            </a:r>
            <a:endParaRPr lang="en-US" sz="5400" b="0"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5" name="TextBox 4"/>
          <p:cNvSpPr txBox="1"/>
          <p:nvPr/>
        </p:nvSpPr>
        <p:spPr>
          <a:xfrm>
            <a:off x="385694" y="2090172"/>
            <a:ext cx="11331167" cy="3046988"/>
          </a:xfrm>
          <a:prstGeom prst="rect">
            <a:avLst/>
          </a:prstGeom>
          <a:noFill/>
        </p:spPr>
        <p:txBody>
          <a:bodyPr wrap="square" rtlCol="0">
            <a:spAutoFit/>
          </a:bodyPr>
          <a:lstStyle/>
          <a:p>
            <a:pPr marL="342900" indent="-342900">
              <a:buFont typeface="Wingdings" panose="05000000000000000000" pitchFamily="2" charset="2"/>
              <a:buChar char="§"/>
            </a:pPr>
            <a:r>
              <a:rPr lang="en-US" sz="2400" dirty="0"/>
              <a:t>To understand how City Hotel and Resort Hotel performed in 3 years (2015-2017), we studied their business in detail. In this analysis, we looked at how well they worked, how satisfied their customers were, their position in the market, their financial results, and how many rooms they sold. We also reviewed their sales, along with their long-term strategies</a:t>
            </a:r>
            <a:r>
              <a:rPr lang="en-US" sz="2400" dirty="0" smtClean="0"/>
              <a:t>.</a:t>
            </a:r>
          </a:p>
          <a:p>
            <a:endParaRPr lang="en-US" sz="2400" dirty="0"/>
          </a:p>
          <a:p>
            <a:pPr marL="342900" indent="-342900">
              <a:buFont typeface="Wingdings" panose="05000000000000000000" pitchFamily="2" charset="2"/>
              <a:buChar char="§"/>
            </a:pPr>
            <a:r>
              <a:rPr lang="en-US" sz="2400" dirty="0"/>
              <a:t>The main goal of this study is to find useful insights that can help both hotels improve their services, earn more profit, and grow in a better and sustainable way.</a:t>
            </a:r>
            <a:endParaRPr lang="en-US" sz="2400" dirty="0" smtClean="0"/>
          </a:p>
        </p:txBody>
      </p:sp>
    </p:spTree>
    <p:extLst>
      <p:ext uri="{BB962C8B-B14F-4D97-AF65-F5344CB8AC3E}">
        <p14:creationId xmlns:p14="http://schemas.microsoft.com/office/powerpoint/2010/main" val="3740328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9545" cy="6858000"/>
          </a:xfrm>
          <a:prstGeom prst="rect">
            <a:avLst/>
          </a:prstGeom>
        </p:spPr>
      </p:pic>
      <p:sp>
        <p:nvSpPr>
          <p:cNvPr id="3" name="Rectangle 2"/>
          <p:cNvSpPr/>
          <p:nvPr/>
        </p:nvSpPr>
        <p:spPr>
          <a:xfrm>
            <a:off x="3601555" y="722075"/>
            <a:ext cx="4996432"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Project Overview</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4" name="TextBox 3"/>
          <p:cNvSpPr txBox="1"/>
          <p:nvPr/>
        </p:nvSpPr>
        <p:spPr>
          <a:xfrm>
            <a:off x="606581" y="2163778"/>
            <a:ext cx="10619715" cy="2308324"/>
          </a:xfrm>
          <a:prstGeom prst="rect">
            <a:avLst/>
          </a:prstGeom>
          <a:noFill/>
        </p:spPr>
        <p:txBody>
          <a:bodyPr wrap="square" rtlCol="0">
            <a:spAutoFit/>
          </a:bodyPr>
          <a:lstStyle/>
          <a:p>
            <a:r>
              <a:rPr lang="en-US" sz="2400" b="1" dirty="0" smtClean="0"/>
              <a:t>Scope:</a:t>
            </a:r>
            <a:r>
              <a:rPr lang="en-US" sz="2400" dirty="0" smtClean="0"/>
              <a:t> Includes booking, guest, and reservation data for City Hotel and Resort Hotel.</a:t>
            </a:r>
          </a:p>
          <a:p>
            <a:r>
              <a:rPr lang="en-US" sz="2400" dirty="0" smtClean="0"/>
              <a:t/>
            </a:r>
            <a:br>
              <a:rPr lang="en-US" sz="2400" dirty="0" smtClean="0"/>
            </a:br>
            <a:r>
              <a:rPr lang="en-US" sz="2400" b="1" dirty="0" smtClean="0"/>
              <a:t>Tools Used:</a:t>
            </a:r>
            <a:r>
              <a:rPr lang="en-US" sz="2400" dirty="0" smtClean="0"/>
              <a:t> Power BI (Dashboard Creation), Excel(Initial Data Cleaning), Power Query (Data Transformation).</a:t>
            </a:r>
          </a:p>
          <a:p>
            <a:r>
              <a:rPr lang="en-US" sz="2400" dirty="0" smtClean="0"/>
              <a:t/>
            </a:r>
            <a:br>
              <a:rPr lang="en-US" sz="2400" dirty="0" smtClean="0"/>
            </a:br>
            <a:r>
              <a:rPr lang="en-US" sz="2400" b="1" dirty="0" smtClean="0"/>
              <a:t>Deliverables:</a:t>
            </a:r>
            <a:r>
              <a:rPr lang="en-US" sz="2400" dirty="0" smtClean="0"/>
              <a:t> Dashboard, Insights, Recommendations.</a:t>
            </a:r>
            <a:endParaRPr lang="en-IN" sz="24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6826" y="4506411"/>
            <a:ext cx="1493823" cy="2363025"/>
          </a:xfrm>
          <a:prstGeom prst="rect">
            <a:avLst/>
          </a:prstGeom>
        </p:spPr>
      </p:pic>
    </p:spTree>
    <p:extLst>
      <p:ext uri="{BB962C8B-B14F-4D97-AF65-F5344CB8AC3E}">
        <p14:creationId xmlns:p14="http://schemas.microsoft.com/office/powerpoint/2010/main" val="13889710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3862845" y="722075"/>
            <a:ext cx="4473853"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About the Data</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4" name="TextBox 3"/>
          <p:cNvSpPr txBox="1"/>
          <p:nvPr/>
        </p:nvSpPr>
        <p:spPr>
          <a:xfrm>
            <a:off x="1023041" y="1928389"/>
            <a:ext cx="10565394" cy="4154984"/>
          </a:xfrm>
          <a:prstGeom prst="rect">
            <a:avLst/>
          </a:prstGeom>
          <a:noFill/>
        </p:spPr>
        <p:txBody>
          <a:bodyPr wrap="square" rtlCol="0">
            <a:spAutoFit/>
          </a:bodyPr>
          <a:lstStyle/>
          <a:p>
            <a:r>
              <a:rPr lang="en-US" sz="2400" dirty="0" smtClean="0"/>
              <a:t>Analyze 2015 Hotel booking Data to uncover patterns, Customer behavior, and operational insights across two types: </a:t>
            </a:r>
            <a:r>
              <a:rPr lang="en-US" sz="2400" b="1" dirty="0" smtClean="0"/>
              <a:t>City Hotel and Resort Hotel.</a:t>
            </a:r>
          </a:p>
          <a:p>
            <a:endParaRPr lang="en-US" sz="2400" b="1" dirty="0"/>
          </a:p>
          <a:p>
            <a:r>
              <a:rPr lang="en-US" sz="2400" b="1" dirty="0" smtClean="0"/>
              <a:t>Data Overview:</a:t>
            </a:r>
          </a:p>
          <a:p>
            <a:r>
              <a:rPr lang="en-US" sz="2400" b="1" dirty="0" smtClean="0"/>
              <a:t>Source </a:t>
            </a:r>
            <a:r>
              <a:rPr lang="en-US" sz="2400" dirty="0" smtClean="0"/>
              <a:t>Hotel Bookings (1).csv</a:t>
            </a:r>
          </a:p>
          <a:p>
            <a:r>
              <a:rPr lang="en-US" sz="2400" dirty="0" smtClean="0"/>
              <a:t>Hotel Type: 1.City Hotel, 2.Resort Hotel.</a:t>
            </a:r>
          </a:p>
          <a:p>
            <a:endParaRPr lang="en-US" sz="2400" dirty="0" smtClean="0"/>
          </a:p>
          <a:p>
            <a:r>
              <a:rPr lang="en-US" sz="2400" b="1" dirty="0" smtClean="0"/>
              <a:t>Key Columns:</a:t>
            </a:r>
            <a:r>
              <a:rPr lang="en-US" sz="2400" dirty="0" smtClean="0"/>
              <a:t> Booking ID, Hotel, Arrival Date, Adults, Children, Babies, Stay Duration, Reservation Status, Market Segment, Customer Type, Meal, Country. </a:t>
            </a:r>
          </a:p>
          <a:p>
            <a:endParaRPr lang="en-US" sz="2400" b="1" dirty="0"/>
          </a:p>
          <a:p>
            <a:r>
              <a:rPr lang="en-US" sz="2400" b="1" dirty="0" smtClean="0"/>
              <a:t>Data Size:</a:t>
            </a:r>
            <a:r>
              <a:rPr lang="en-US" sz="2400" dirty="0" smtClean="0"/>
              <a:t> Covers 175 countries, 5 meal types, and 75.20K total guests.</a:t>
            </a:r>
            <a:endParaRPr lang="en-IN" sz="24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98591" y="2507811"/>
            <a:ext cx="1795399" cy="1996240"/>
          </a:xfrm>
          <a:prstGeom prst="rect">
            <a:avLst/>
          </a:prstGeom>
          <a:ln>
            <a:noFill/>
          </a:ln>
          <a:effectLst>
            <a:glow rad="139700">
              <a:schemeClr val="accent5">
                <a:satMod val="175000"/>
                <a:alpha val="40000"/>
              </a:schemeClr>
            </a:glow>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Tree>
    <p:extLst>
      <p:ext uri="{BB962C8B-B14F-4D97-AF65-F5344CB8AC3E}">
        <p14:creationId xmlns:p14="http://schemas.microsoft.com/office/powerpoint/2010/main" val="1096385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3279833" y="785450"/>
            <a:ext cx="5639878"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Problem Statement</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6" name="TextBox 5"/>
          <p:cNvSpPr txBox="1"/>
          <p:nvPr/>
        </p:nvSpPr>
        <p:spPr>
          <a:xfrm>
            <a:off x="733331" y="2073244"/>
            <a:ext cx="10927532" cy="2585323"/>
          </a:xfrm>
          <a:prstGeom prst="rect">
            <a:avLst/>
          </a:prstGeom>
          <a:noFill/>
        </p:spPr>
        <p:txBody>
          <a:bodyPr wrap="square" rtlCol="0">
            <a:spAutoFit/>
          </a:bodyPr>
          <a:lstStyle/>
          <a:p>
            <a:r>
              <a:rPr lang="en-US" sz="2400" b="1" dirty="0" smtClean="0"/>
              <a:t>Business Questions:</a:t>
            </a:r>
            <a:endParaRPr lang="en-US" sz="2400" dirty="0" smtClean="0"/>
          </a:p>
          <a:p>
            <a:pPr marL="342900" indent="-342900">
              <a:buFont typeface="Wingdings" panose="05000000000000000000" pitchFamily="2" charset="2"/>
              <a:buChar char="§"/>
            </a:pPr>
            <a:r>
              <a:rPr lang="en-US" sz="2400" dirty="0" smtClean="0"/>
              <a:t>Which hotel type do guests prefer the most?</a:t>
            </a:r>
          </a:p>
          <a:p>
            <a:pPr marL="342900" indent="-342900">
              <a:buFont typeface="Wingdings" panose="05000000000000000000" pitchFamily="2" charset="2"/>
              <a:buChar char="§"/>
            </a:pPr>
            <a:r>
              <a:rPr lang="en-US" sz="2400" dirty="0" smtClean="0"/>
              <a:t>Which hotel has the highest cancellations?</a:t>
            </a:r>
          </a:p>
          <a:p>
            <a:pPr marL="342900" indent="-342900">
              <a:buFont typeface="Wingdings" panose="05000000000000000000" pitchFamily="2" charset="2"/>
              <a:buChar char="§"/>
            </a:pPr>
            <a:r>
              <a:rPr lang="en-US" sz="2400" dirty="0" smtClean="0"/>
              <a:t>Which month has the most guests?</a:t>
            </a:r>
          </a:p>
          <a:p>
            <a:pPr marL="342900" indent="-342900">
              <a:buFont typeface="Wingdings" panose="05000000000000000000" pitchFamily="2" charset="2"/>
              <a:buChar char="§"/>
            </a:pPr>
            <a:endParaRPr lang="en-US" sz="2400" dirty="0" smtClean="0"/>
          </a:p>
          <a:p>
            <a:r>
              <a:rPr lang="en-US" sz="2400" b="1" dirty="0" smtClean="0"/>
              <a:t>Goal:</a:t>
            </a:r>
            <a:r>
              <a:rPr lang="en-US" sz="2400" dirty="0" smtClean="0"/>
              <a:t> Provide insights that help improve booking strategies and </a:t>
            </a:r>
            <a:r>
              <a:rPr lang="en-US" sz="2400" dirty="0" smtClean="0"/>
              <a:t>reduce </a:t>
            </a:r>
            <a:r>
              <a:rPr lang="en-US" sz="2400" dirty="0" smtClean="0"/>
              <a:t>cancellations.</a:t>
            </a:r>
          </a:p>
          <a:p>
            <a:endParaRPr lang="en-IN" dirty="0"/>
          </a:p>
        </p:txBody>
      </p:sp>
    </p:spTree>
    <p:extLst>
      <p:ext uri="{BB962C8B-B14F-4D97-AF65-F5344CB8AC3E}">
        <p14:creationId xmlns:p14="http://schemas.microsoft.com/office/powerpoint/2010/main" val="12872655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3570877" y="875984"/>
            <a:ext cx="5057795"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Data Preparation </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8" name="TextBox 7"/>
          <p:cNvSpPr txBox="1"/>
          <p:nvPr/>
        </p:nvSpPr>
        <p:spPr>
          <a:xfrm>
            <a:off x="325925" y="1639126"/>
            <a:ext cx="11866075" cy="5262979"/>
          </a:xfrm>
          <a:prstGeom prst="rect">
            <a:avLst/>
          </a:prstGeom>
          <a:noFill/>
        </p:spPr>
        <p:txBody>
          <a:bodyPr wrap="square" rtlCol="0">
            <a:spAutoFit/>
          </a:bodyPr>
          <a:lstStyle/>
          <a:p>
            <a:pPr marL="342900" indent="-342900">
              <a:buFont typeface="Wingdings" panose="05000000000000000000" pitchFamily="2" charset="2"/>
              <a:buChar char="§"/>
            </a:pPr>
            <a:r>
              <a:rPr lang="en-US" sz="2400" b="1" dirty="0" smtClean="0"/>
              <a:t>Data Preparation steps</a:t>
            </a:r>
            <a:r>
              <a:rPr lang="en-US" sz="2400" dirty="0" smtClean="0"/>
              <a:t>:</a:t>
            </a:r>
          </a:p>
          <a:p>
            <a:endParaRPr lang="en-US" sz="2400" dirty="0" smtClean="0"/>
          </a:p>
          <a:p>
            <a:pPr marL="342900" indent="-342900">
              <a:buAutoNum type="arabicParenR"/>
            </a:pPr>
            <a:r>
              <a:rPr lang="en-US" sz="2400" dirty="0" smtClean="0"/>
              <a:t>Imported raw dataset into Power BI.</a:t>
            </a:r>
          </a:p>
          <a:p>
            <a:r>
              <a:rPr lang="en-US" sz="2400" dirty="0" smtClean="0"/>
              <a:t>2</a:t>
            </a:r>
            <a:r>
              <a:rPr lang="en-US" sz="2400" dirty="0" smtClean="0"/>
              <a:t>) </a:t>
            </a:r>
            <a:r>
              <a:rPr lang="en-US" sz="2400" dirty="0" smtClean="0"/>
              <a:t>Created calculated columns: </a:t>
            </a:r>
            <a:r>
              <a:rPr lang="en-US" sz="2400" dirty="0" err="1" smtClean="0"/>
              <a:t>Booking_ID</a:t>
            </a:r>
            <a:r>
              <a:rPr lang="en-US" sz="2400" dirty="0" smtClean="0"/>
              <a:t>, </a:t>
            </a:r>
            <a:r>
              <a:rPr lang="en-US" sz="2400" dirty="0" err="1" smtClean="0"/>
              <a:t>total_night_stays</a:t>
            </a:r>
            <a:r>
              <a:rPr lang="en-US" sz="2400" dirty="0"/>
              <a:t> </a:t>
            </a:r>
            <a:r>
              <a:rPr lang="en-US" sz="2400" dirty="0" smtClean="0"/>
              <a:t>and</a:t>
            </a:r>
            <a:r>
              <a:rPr lang="en-US" sz="2400" dirty="0" smtClean="0"/>
              <a:t> </a:t>
            </a:r>
            <a:r>
              <a:rPr lang="en-US" sz="2400" dirty="0" err="1" smtClean="0"/>
              <a:t>total_persons</a:t>
            </a:r>
            <a:r>
              <a:rPr lang="en-US" sz="2400" dirty="0" smtClean="0"/>
              <a:t>.</a:t>
            </a:r>
            <a:endParaRPr lang="en-US" sz="2400" dirty="0" smtClean="0"/>
          </a:p>
          <a:p>
            <a:r>
              <a:rPr lang="en-US" sz="2400" dirty="0" smtClean="0"/>
              <a:t>4) </a:t>
            </a:r>
            <a:r>
              <a:rPr lang="en-US" sz="2400" dirty="0"/>
              <a:t>Merged 3 </a:t>
            </a:r>
            <a:r>
              <a:rPr lang="en-US" sz="2400" dirty="0" err="1"/>
              <a:t>Coumns</a:t>
            </a:r>
            <a:r>
              <a:rPr lang="en-US" sz="2400" dirty="0"/>
              <a:t> (adults, Children, Babies) into new column name as (</a:t>
            </a:r>
            <a:r>
              <a:rPr lang="en-US" sz="2400" dirty="0" err="1"/>
              <a:t>Total_Persons</a:t>
            </a:r>
            <a:r>
              <a:rPr lang="en-US" sz="2400" dirty="0"/>
              <a:t>).</a:t>
            </a:r>
          </a:p>
          <a:p>
            <a:r>
              <a:rPr lang="en-US" sz="2400" dirty="0"/>
              <a:t>5</a:t>
            </a:r>
            <a:r>
              <a:rPr lang="en-US" sz="2400" dirty="0" smtClean="0"/>
              <a:t>) </a:t>
            </a:r>
            <a:r>
              <a:rPr lang="en-US" sz="2400" dirty="0"/>
              <a:t>Combined weekend and week nights for total stay duration in New Column Name as </a:t>
            </a:r>
            <a:r>
              <a:rPr lang="en-US" sz="2400" dirty="0" smtClean="0"/>
              <a:t>                    </a:t>
            </a:r>
            <a:r>
              <a:rPr lang="en-US" sz="2400" dirty="0" err="1" smtClean="0"/>
              <a:t>total_Night_Stays</a:t>
            </a:r>
            <a:r>
              <a:rPr lang="en-US" sz="2400" dirty="0" smtClean="0"/>
              <a:t> .</a:t>
            </a:r>
          </a:p>
          <a:p>
            <a:r>
              <a:rPr lang="en-US" sz="2400" dirty="0" smtClean="0"/>
              <a:t>6) </a:t>
            </a:r>
            <a:r>
              <a:rPr lang="en-US" sz="2400" dirty="0"/>
              <a:t>Merged 3 Columns (</a:t>
            </a:r>
            <a:r>
              <a:rPr lang="en-US" sz="2400" dirty="0" err="1"/>
              <a:t>arrival_date_day_of_month</a:t>
            </a:r>
            <a:r>
              <a:rPr lang="en-US" sz="2400" dirty="0"/>
              <a:t> + </a:t>
            </a:r>
            <a:r>
              <a:rPr lang="en-US" sz="2400" dirty="0" err="1"/>
              <a:t>arrival_date_month</a:t>
            </a:r>
            <a:r>
              <a:rPr lang="en-US" sz="2400" dirty="0"/>
              <a:t> + </a:t>
            </a:r>
            <a:r>
              <a:rPr lang="en-US" sz="2400" dirty="0" smtClean="0"/>
              <a:t>  </a:t>
            </a:r>
            <a:r>
              <a:rPr lang="en-US" sz="2400" dirty="0" err="1" smtClean="0"/>
              <a:t>arrival_date_year</a:t>
            </a:r>
            <a:r>
              <a:rPr lang="en-US" sz="2400" dirty="0"/>
              <a:t>) into new Column name as </a:t>
            </a:r>
            <a:r>
              <a:rPr lang="en-US" sz="2400" dirty="0" err="1"/>
              <a:t>Arrival_Date</a:t>
            </a:r>
            <a:r>
              <a:rPr lang="en-US" sz="2400" dirty="0"/>
              <a:t> &amp; Change Data Type(Text to Date).</a:t>
            </a:r>
          </a:p>
          <a:p>
            <a:r>
              <a:rPr lang="en-US" sz="2400" dirty="0"/>
              <a:t>7</a:t>
            </a:r>
            <a:r>
              <a:rPr lang="en-US" sz="2400" dirty="0" smtClean="0"/>
              <a:t>) </a:t>
            </a:r>
            <a:r>
              <a:rPr lang="en-IN" sz="2400" dirty="0"/>
              <a:t>Built relationships between tables.</a:t>
            </a:r>
          </a:p>
          <a:p>
            <a:endParaRPr lang="en-IN" sz="2400" dirty="0" smtClean="0"/>
          </a:p>
          <a:p>
            <a:endParaRPr lang="en-IN" sz="2400" dirty="0" smtClean="0"/>
          </a:p>
          <a:p>
            <a:endParaRPr lang="en-US" sz="2400" dirty="0"/>
          </a:p>
          <a:p>
            <a:endParaRPr lang="en-US" sz="2400" dirty="0" smtClean="0"/>
          </a:p>
        </p:txBody>
      </p:sp>
    </p:spTree>
    <p:extLst>
      <p:ext uri="{BB962C8B-B14F-4D97-AF65-F5344CB8AC3E}">
        <p14:creationId xmlns:p14="http://schemas.microsoft.com/office/powerpoint/2010/main" val="21856049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3208211" y="758289"/>
            <a:ext cx="5783122" cy="923330"/>
          </a:xfrm>
          <a:prstGeom prst="rect">
            <a:avLst/>
          </a:prstGeom>
          <a:noFill/>
        </p:spPr>
        <p:txBody>
          <a:bodyPr wrap="none" lIns="91440" tIns="45720" rIns="91440" bIns="45720">
            <a:spAutoFit/>
          </a:bodyPr>
          <a:lstStyle/>
          <a:p>
            <a:pPr algn="ctr"/>
            <a:r>
              <a:rPr lang="en-IN" sz="5400" b="1" dirty="0" smtClean="0">
                <a:latin typeface="Baskerville Old Face" panose="02020602080505020303" pitchFamily="18" charset="0"/>
              </a:rPr>
              <a:t>Expected Outcomes</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4" name="TextBox 3"/>
          <p:cNvSpPr txBox="1"/>
          <p:nvPr/>
        </p:nvSpPr>
        <p:spPr>
          <a:xfrm>
            <a:off x="669956" y="2145671"/>
            <a:ext cx="10846052" cy="2677656"/>
          </a:xfrm>
          <a:prstGeom prst="rect">
            <a:avLst/>
          </a:prstGeom>
          <a:noFill/>
        </p:spPr>
        <p:txBody>
          <a:bodyPr wrap="square" rtlCol="0">
            <a:spAutoFit/>
          </a:bodyPr>
          <a:lstStyle/>
          <a:p>
            <a:r>
              <a:rPr lang="en-IN" sz="2400" b="1" dirty="0" smtClean="0"/>
              <a:t>Expected Outcomes:</a:t>
            </a:r>
          </a:p>
          <a:p>
            <a:endParaRPr lang="en-US" sz="2400" dirty="0"/>
          </a:p>
          <a:p>
            <a:pPr marL="342900" indent="-342900">
              <a:buAutoNum type="arabicParenR"/>
            </a:pPr>
            <a:r>
              <a:rPr lang="en-US" sz="2400" dirty="0" smtClean="0"/>
              <a:t>Increase Resort Hotel occupancy by 10% through targeted offers.</a:t>
            </a:r>
          </a:p>
          <a:p>
            <a:pPr marL="342900" indent="-342900">
              <a:buAutoNum type="arabicParenR"/>
            </a:pPr>
            <a:endParaRPr lang="en-US" sz="2400" dirty="0"/>
          </a:p>
          <a:p>
            <a:pPr marL="342900" indent="-342900">
              <a:buAutoNum type="arabicParenR"/>
            </a:pPr>
            <a:r>
              <a:rPr lang="en-US" sz="2400" dirty="0" smtClean="0"/>
              <a:t>Reduce cancellations by improving prepayment or discount structure.</a:t>
            </a:r>
          </a:p>
          <a:p>
            <a:pPr marL="342900" indent="-342900">
              <a:buAutoNum type="arabicParenR"/>
            </a:pPr>
            <a:endParaRPr lang="en-US" sz="2400" dirty="0"/>
          </a:p>
          <a:p>
            <a:pPr marL="342900" indent="-342900">
              <a:buAutoNum type="arabicParenR"/>
            </a:pPr>
            <a:r>
              <a:rPr lang="en-US" sz="2400" dirty="0" smtClean="0"/>
              <a:t>Use seasonal data for better staffing and pricing.</a:t>
            </a:r>
            <a:endParaRPr lang="en-IN" sz="24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0078" y="2145671"/>
            <a:ext cx="2074157" cy="4078398"/>
          </a:xfrm>
          <a:prstGeom prst="rect">
            <a:avLst/>
          </a:prstGeom>
        </p:spPr>
      </p:pic>
    </p:spTree>
    <p:extLst>
      <p:ext uri="{BB962C8B-B14F-4D97-AF65-F5344CB8AC3E}">
        <p14:creationId xmlns:p14="http://schemas.microsoft.com/office/powerpoint/2010/main" val="4116845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4067227" y="348620"/>
            <a:ext cx="4065088"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Data Cleaning</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4" name="TextBox 3"/>
          <p:cNvSpPr txBox="1"/>
          <p:nvPr/>
        </p:nvSpPr>
        <p:spPr>
          <a:xfrm>
            <a:off x="640531" y="1271950"/>
            <a:ext cx="10918479" cy="3416320"/>
          </a:xfrm>
          <a:prstGeom prst="rect">
            <a:avLst/>
          </a:prstGeom>
          <a:noFill/>
        </p:spPr>
        <p:txBody>
          <a:bodyPr wrap="square" rtlCol="0">
            <a:spAutoFit/>
          </a:bodyPr>
          <a:lstStyle/>
          <a:p>
            <a:r>
              <a:rPr lang="en-IN" sz="2400" b="1" dirty="0" smtClean="0"/>
              <a:t>Actions Performed:</a:t>
            </a:r>
          </a:p>
          <a:p>
            <a:endParaRPr lang="en-US" sz="2400" dirty="0"/>
          </a:p>
          <a:p>
            <a:pPr marL="342900" indent="-342900">
              <a:buAutoNum type="arabicParenR"/>
            </a:pPr>
            <a:r>
              <a:rPr lang="en-IN" sz="2400" dirty="0" smtClean="0"/>
              <a:t>Create a Primary Key (Booking ID) to uniquely identify each record in table.</a:t>
            </a:r>
            <a:endParaRPr lang="en-US" sz="2400" dirty="0"/>
          </a:p>
          <a:p>
            <a:pPr marL="342900" indent="-342900">
              <a:buAutoNum type="arabicParenR"/>
            </a:pPr>
            <a:r>
              <a:rPr lang="en-US" sz="2400" dirty="0" smtClean="0"/>
              <a:t>Fixed incorrect data types (text to numbers).</a:t>
            </a:r>
            <a:endParaRPr lang="en-US" sz="2400" dirty="0"/>
          </a:p>
          <a:p>
            <a:pPr marL="342900" indent="-342900">
              <a:buAutoNum type="arabicParenR"/>
            </a:pPr>
            <a:r>
              <a:rPr lang="en-US" sz="2400" dirty="0" smtClean="0"/>
              <a:t>Delete (Company) column, Lot of NULL records(82133) &amp; Delete column (</a:t>
            </a:r>
            <a:r>
              <a:rPr lang="en-US" sz="2400" dirty="0" err="1" smtClean="0"/>
              <a:t>Day_in_waiting_list</a:t>
            </a:r>
            <a:r>
              <a:rPr lang="en-US" sz="2400" dirty="0" smtClean="0"/>
              <a:t>) because it haves lots of 0 records (86365) &amp; also remove Column (</a:t>
            </a:r>
            <a:r>
              <a:rPr lang="en-US" sz="2400" dirty="0" err="1" smtClean="0"/>
              <a:t>arrival_date_of_week_number</a:t>
            </a:r>
            <a:r>
              <a:rPr lang="en-US" sz="2400" dirty="0" smtClean="0"/>
              <a:t>) No Need .</a:t>
            </a:r>
            <a:endParaRPr lang="en-US" sz="2400" dirty="0"/>
          </a:p>
          <a:p>
            <a:pPr marL="342900" indent="-342900">
              <a:buFontTx/>
              <a:buAutoNum type="arabicParenR"/>
            </a:pPr>
            <a:r>
              <a:rPr lang="en-US" sz="2400" dirty="0"/>
              <a:t>Converted columns to correct data types</a:t>
            </a:r>
            <a:r>
              <a:rPr lang="en-US" sz="2400" dirty="0" smtClean="0"/>
              <a:t>.</a:t>
            </a:r>
          </a:p>
          <a:p>
            <a:pPr marL="342900" indent="-342900">
              <a:buAutoNum type="arabicParenR"/>
            </a:pPr>
            <a:r>
              <a:rPr lang="en-US" sz="2400" dirty="0" smtClean="0"/>
              <a:t>Removed </a:t>
            </a:r>
            <a:r>
              <a:rPr lang="en-US" sz="2400" dirty="0"/>
              <a:t>duplicates, Errors and missing values</a:t>
            </a:r>
            <a:endParaRPr lang="en-IN" sz="2400" dirty="0"/>
          </a:p>
        </p:txBody>
      </p:sp>
    </p:spTree>
    <p:extLst>
      <p:ext uri="{BB962C8B-B14F-4D97-AF65-F5344CB8AC3E}">
        <p14:creationId xmlns:p14="http://schemas.microsoft.com/office/powerpoint/2010/main" val="16276704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3503099" y="758289"/>
            <a:ext cx="5193345" cy="923330"/>
          </a:xfrm>
          <a:prstGeom prst="rect">
            <a:avLst/>
          </a:prstGeom>
          <a:noFill/>
        </p:spPr>
        <p:txBody>
          <a:bodyPr wrap="none" lIns="91440" tIns="45720" rIns="91440" bIns="45720">
            <a:spAutoFit/>
          </a:bodyPr>
          <a:lstStyle/>
          <a:p>
            <a:pPr algn="ctr"/>
            <a:r>
              <a:rPr lang="en-IN" sz="5400" b="1" dirty="0" smtClean="0">
                <a:latin typeface="Baskerville Old Face" panose="02020602080505020303" pitchFamily="18" charset="0"/>
              </a:rPr>
              <a:t>Data Visualization</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sp>
        <p:nvSpPr>
          <p:cNvPr id="8" name="TextBox 7"/>
          <p:cNvSpPr txBox="1"/>
          <p:nvPr/>
        </p:nvSpPr>
        <p:spPr>
          <a:xfrm>
            <a:off x="497941" y="2154725"/>
            <a:ext cx="10538233" cy="3323987"/>
          </a:xfrm>
          <a:prstGeom prst="rect">
            <a:avLst/>
          </a:prstGeom>
          <a:noFill/>
        </p:spPr>
        <p:txBody>
          <a:bodyPr wrap="square" rtlCol="0">
            <a:spAutoFit/>
          </a:bodyPr>
          <a:lstStyle/>
          <a:p>
            <a:r>
              <a:rPr lang="en-IN" sz="2400" b="1" dirty="0"/>
              <a:t>Visuals Added</a:t>
            </a:r>
            <a:r>
              <a:rPr lang="en-IN" sz="2400" b="1" dirty="0" smtClean="0"/>
              <a:t>:</a:t>
            </a:r>
          </a:p>
          <a:p>
            <a:endParaRPr lang="en-US" sz="2400" dirty="0" smtClean="0"/>
          </a:p>
          <a:p>
            <a:pPr marL="285750" indent="-285750">
              <a:buFont typeface="Wingdings" panose="05000000000000000000" pitchFamily="2" charset="2"/>
              <a:buChar char="§"/>
            </a:pPr>
            <a:r>
              <a:rPr lang="en-US" sz="2400" dirty="0"/>
              <a:t>Count of </a:t>
            </a:r>
            <a:r>
              <a:rPr lang="en-US" sz="2400" dirty="0" err="1"/>
              <a:t>BookingID</a:t>
            </a:r>
            <a:r>
              <a:rPr lang="en-US" sz="2400" dirty="0"/>
              <a:t> by </a:t>
            </a:r>
            <a:r>
              <a:rPr lang="en-US" sz="2400" dirty="0" smtClean="0"/>
              <a:t>Hotel.</a:t>
            </a:r>
          </a:p>
          <a:p>
            <a:pPr marL="285750" indent="-285750">
              <a:buFont typeface="Wingdings" panose="05000000000000000000" pitchFamily="2" charset="2"/>
              <a:buChar char="§"/>
            </a:pPr>
            <a:r>
              <a:rPr lang="en-US" sz="2400" dirty="0"/>
              <a:t>Total Nights Stay by </a:t>
            </a:r>
            <a:r>
              <a:rPr lang="en-US" sz="2400" dirty="0" smtClean="0"/>
              <a:t>Hotel.</a:t>
            </a:r>
          </a:p>
          <a:p>
            <a:pPr marL="285750" indent="-285750">
              <a:buFont typeface="Wingdings" panose="05000000000000000000" pitchFamily="2" charset="2"/>
              <a:buChar char="§"/>
            </a:pPr>
            <a:r>
              <a:rPr lang="en-IN" sz="2400" dirty="0"/>
              <a:t>Reservation Status </a:t>
            </a:r>
            <a:r>
              <a:rPr lang="en-IN" sz="2400" dirty="0" smtClean="0"/>
              <a:t>Distribution.</a:t>
            </a:r>
          </a:p>
          <a:p>
            <a:pPr marL="285750" indent="-285750">
              <a:buFont typeface="Wingdings" panose="05000000000000000000" pitchFamily="2" charset="2"/>
              <a:buChar char="§"/>
            </a:pPr>
            <a:r>
              <a:rPr lang="en-IN" sz="2400" dirty="0"/>
              <a:t>Total Persons by </a:t>
            </a:r>
            <a:r>
              <a:rPr lang="en-IN" sz="2400" dirty="0" smtClean="0"/>
              <a:t>Hotel.</a:t>
            </a:r>
          </a:p>
          <a:p>
            <a:pPr marL="285750" indent="-285750">
              <a:buFont typeface="Wingdings" panose="05000000000000000000" pitchFamily="2" charset="2"/>
              <a:buChar char="§"/>
            </a:pPr>
            <a:r>
              <a:rPr lang="en-US" sz="2400" dirty="0"/>
              <a:t>KPI Cards (Countries, Meals, </a:t>
            </a:r>
            <a:endParaRPr lang="en-US" sz="2400" dirty="0" smtClean="0"/>
          </a:p>
          <a:p>
            <a:r>
              <a:rPr lang="en-US" sz="2400" dirty="0"/>
              <a:t> </a:t>
            </a:r>
            <a:r>
              <a:rPr lang="en-US" sz="2400" dirty="0" smtClean="0"/>
              <a:t>    Total </a:t>
            </a:r>
            <a:r>
              <a:rPr lang="en-US" sz="2400" dirty="0"/>
              <a:t>Persons</a:t>
            </a:r>
            <a:r>
              <a:rPr lang="en-US" dirty="0"/>
              <a:t>)</a:t>
            </a:r>
          </a:p>
          <a:p>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4431" y="1681618"/>
            <a:ext cx="6646432" cy="3743447"/>
          </a:xfrm>
          <a:prstGeom prst="rect">
            <a:avLst/>
          </a:prstGeom>
          <a:effectLst>
            <a:glow rad="63500">
              <a:schemeClr val="accent3">
                <a:satMod val="175000"/>
                <a:alpha val="40000"/>
              </a:schemeClr>
            </a:glow>
            <a:outerShdw blurRad="50800" dist="38100" dir="5400000" algn="t" rotWithShape="0">
              <a:prstClr val="black">
                <a:alpha val="40000"/>
              </a:prstClr>
            </a:outerShdw>
          </a:effectLst>
        </p:spPr>
      </p:pic>
    </p:spTree>
    <p:extLst>
      <p:ext uri="{BB962C8B-B14F-4D97-AF65-F5344CB8AC3E}">
        <p14:creationId xmlns:p14="http://schemas.microsoft.com/office/powerpoint/2010/main" val="16295371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7" name="Rectangle 6"/>
          <p:cNvSpPr/>
          <p:nvPr/>
        </p:nvSpPr>
        <p:spPr>
          <a:xfrm>
            <a:off x="1986339" y="513845"/>
            <a:ext cx="7965835"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Most </a:t>
            </a:r>
            <a:r>
              <a:rPr lang="en-US" sz="5400" b="1" cap="none" spc="0" dirty="0" err="1"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Prefered</a:t>
            </a: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 Hotel to Stay</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3717" y="1747319"/>
            <a:ext cx="4538627" cy="3203232"/>
          </a:xfrm>
          <a:prstGeom prst="rect">
            <a:avLst/>
          </a:prstGeom>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9" name="TextBox 8"/>
          <p:cNvSpPr txBox="1"/>
          <p:nvPr/>
        </p:nvSpPr>
        <p:spPr>
          <a:xfrm>
            <a:off x="506994" y="2281473"/>
            <a:ext cx="5794218" cy="3785652"/>
          </a:xfrm>
          <a:prstGeom prst="rect">
            <a:avLst/>
          </a:prstGeom>
          <a:noFill/>
        </p:spPr>
        <p:txBody>
          <a:bodyPr wrap="square" rtlCol="0">
            <a:spAutoFit/>
          </a:bodyPr>
          <a:lstStyle/>
          <a:p>
            <a:r>
              <a:rPr lang="en-US" sz="2400" b="1" dirty="0"/>
              <a:t>Visual : </a:t>
            </a:r>
            <a:r>
              <a:rPr lang="en-US" sz="2400" dirty="0" smtClean="0"/>
              <a:t>Count </a:t>
            </a:r>
            <a:r>
              <a:rPr lang="en-US" sz="2400" dirty="0"/>
              <a:t>of Booking ID by Hotel (Bar Chart) </a:t>
            </a:r>
            <a:endParaRPr lang="en-US" sz="2400" dirty="0" smtClean="0"/>
          </a:p>
          <a:p>
            <a:endParaRPr lang="en-US" sz="2400" dirty="0" smtClean="0"/>
          </a:p>
          <a:p>
            <a:r>
              <a:rPr lang="en-US" sz="2400" b="1" dirty="0" smtClean="0"/>
              <a:t>Insight</a:t>
            </a:r>
            <a:r>
              <a:rPr lang="en-US" sz="2400" b="1" dirty="0"/>
              <a:t>:</a:t>
            </a:r>
            <a:r>
              <a:rPr lang="en-US" sz="2400" dirty="0"/>
              <a:t> City Hotel has the highest number of bookings — around 45K compared to 30K for Resort Hotel</a:t>
            </a:r>
            <a:r>
              <a:rPr lang="en-US" sz="2400" dirty="0" smtClean="0"/>
              <a:t>.</a:t>
            </a:r>
          </a:p>
          <a:p>
            <a:endParaRPr lang="en-US" sz="2400" dirty="0" smtClean="0"/>
          </a:p>
          <a:p>
            <a:r>
              <a:rPr lang="en-US" sz="2400" b="1" dirty="0"/>
              <a:t>Conclusion:</a:t>
            </a:r>
            <a:r>
              <a:rPr lang="en-US" sz="2400" dirty="0"/>
              <a:t> Guests prefer City Hotel due to convenience, urban access, and shorter stays.</a:t>
            </a:r>
            <a:endParaRPr lang="en-IN" sz="2400" dirty="0"/>
          </a:p>
        </p:txBody>
      </p:sp>
    </p:spTree>
    <p:extLst>
      <p:ext uri="{BB962C8B-B14F-4D97-AF65-F5344CB8AC3E}">
        <p14:creationId xmlns:p14="http://schemas.microsoft.com/office/powerpoint/2010/main" val="10841610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2077356" y="731129"/>
            <a:ext cx="8044831" cy="923330"/>
          </a:xfrm>
          <a:prstGeom prst="rect">
            <a:avLst/>
          </a:prstGeom>
          <a:noFill/>
        </p:spPr>
        <p:txBody>
          <a:bodyPr wrap="none" lIns="91440" tIns="45720" rIns="91440" bIns="45720">
            <a:spAutoFit/>
          </a:bodyPr>
          <a:lstStyle/>
          <a:p>
            <a:pPr algn="ctr"/>
            <a:r>
              <a:rPr lang="en-IN" sz="5400" b="1" dirty="0">
                <a:latin typeface="Baskerville Old Face" panose="02020602080505020303" pitchFamily="18" charset="0"/>
              </a:rPr>
              <a:t>Most Cancellations by Hotel</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5331" y="1654459"/>
            <a:ext cx="4259319" cy="3667217"/>
          </a:xfrm>
          <a:prstGeom prst="rect">
            <a:avLst/>
          </a:prstGeom>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TextBox 4"/>
          <p:cNvSpPr txBox="1"/>
          <p:nvPr/>
        </p:nvSpPr>
        <p:spPr>
          <a:xfrm>
            <a:off x="344031" y="1774479"/>
            <a:ext cx="6355533" cy="4524315"/>
          </a:xfrm>
          <a:prstGeom prst="rect">
            <a:avLst/>
          </a:prstGeom>
          <a:noFill/>
        </p:spPr>
        <p:txBody>
          <a:bodyPr wrap="square" rtlCol="0">
            <a:spAutoFit/>
          </a:bodyPr>
          <a:lstStyle/>
          <a:p>
            <a:r>
              <a:rPr lang="en-US" sz="2400" b="1" dirty="0"/>
              <a:t>Visual:</a:t>
            </a:r>
            <a:r>
              <a:rPr lang="en-US" sz="2400" dirty="0"/>
              <a:t> Reservation Status Distribution (Pie Chart) </a:t>
            </a:r>
            <a:endParaRPr lang="en-US" sz="2400" dirty="0" smtClean="0"/>
          </a:p>
          <a:p>
            <a:endParaRPr lang="en-US" sz="2400" b="1" dirty="0"/>
          </a:p>
          <a:p>
            <a:r>
              <a:rPr lang="en-US" sz="2400" b="1" dirty="0" smtClean="0"/>
              <a:t>Insight</a:t>
            </a:r>
            <a:r>
              <a:rPr lang="en-US" sz="2400" b="1" dirty="0"/>
              <a:t>:</a:t>
            </a:r>
            <a:r>
              <a:rPr lang="en-US" sz="2400" dirty="0"/>
              <a:t> Resort Hotel has a slightly higher cancellation rate compared to City Hotel. </a:t>
            </a:r>
            <a:endParaRPr lang="en-US" sz="2400" dirty="0" smtClean="0"/>
          </a:p>
          <a:p>
            <a:endParaRPr lang="en-US" sz="2400" b="1" dirty="0" smtClean="0"/>
          </a:p>
          <a:p>
            <a:r>
              <a:rPr lang="en-US" sz="2400" b="1" dirty="0" smtClean="0"/>
              <a:t>Breakdown</a:t>
            </a:r>
            <a:r>
              <a:rPr lang="en-US" sz="2400" b="1" dirty="0"/>
              <a:t>:</a:t>
            </a:r>
            <a:r>
              <a:rPr lang="en-US" sz="2400" dirty="0"/>
              <a:t> Check-Out — 52.74K (70.13%), Canceled — 21.64K (28%), No-Show — small portion</a:t>
            </a:r>
            <a:r>
              <a:rPr lang="en-US" sz="2400" dirty="0" smtClean="0"/>
              <a:t>.</a:t>
            </a:r>
          </a:p>
          <a:p>
            <a:endParaRPr lang="en-US" sz="2400" dirty="0"/>
          </a:p>
          <a:p>
            <a:r>
              <a:rPr lang="en-US" sz="2400" b="1" dirty="0"/>
              <a:t>Conclusion:</a:t>
            </a:r>
            <a:r>
              <a:rPr lang="en-US" sz="2400" dirty="0"/>
              <a:t> Resort bookings are more likely to cancel, possibly due to seasonal travel and longer planning time.</a:t>
            </a:r>
            <a:endParaRPr lang="en-IN" sz="2400" dirty="0"/>
          </a:p>
        </p:txBody>
      </p:sp>
    </p:spTree>
    <p:extLst>
      <p:ext uri="{BB962C8B-B14F-4D97-AF65-F5344CB8AC3E}">
        <p14:creationId xmlns:p14="http://schemas.microsoft.com/office/powerpoint/2010/main" val="32693944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2628661" y="622487"/>
            <a:ext cx="6942221" cy="923330"/>
          </a:xfrm>
          <a:prstGeom prst="rect">
            <a:avLst/>
          </a:prstGeom>
          <a:noFill/>
        </p:spPr>
        <p:txBody>
          <a:bodyPr wrap="none" lIns="91440" tIns="45720" rIns="91440" bIns="45720">
            <a:spAutoFit/>
          </a:bodyPr>
          <a:lstStyle/>
          <a:p>
            <a:pPr algn="ctr"/>
            <a:r>
              <a:rPr lang="en-IN" sz="5400" b="1" dirty="0">
                <a:latin typeface="Baskerville Old Face" panose="02020602080505020303" pitchFamily="18" charset="0"/>
              </a:rPr>
              <a:t>Additional Observations</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4586" y="1620570"/>
            <a:ext cx="5075738" cy="3850208"/>
          </a:xfrm>
          <a:prstGeom prst="rect">
            <a:avLst/>
          </a:prstGeom>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TextBox 4"/>
          <p:cNvSpPr txBox="1"/>
          <p:nvPr/>
        </p:nvSpPr>
        <p:spPr>
          <a:xfrm>
            <a:off x="325924" y="1620570"/>
            <a:ext cx="5441133" cy="4524315"/>
          </a:xfrm>
          <a:prstGeom prst="rect">
            <a:avLst/>
          </a:prstGeom>
          <a:noFill/>
        </p:spPr>
        <p:txBody>
          <a:bodyPr wrap="square" rtlCol="0">
            <a:spAutoFit/>
          </a:bodyPr>
          <a:lstStyle/>
          <a:p>
            <a:r>
              <a:rPr lang="en-US" sz="2400" b="1" dirty="0"/>
              <a:t>Visual:</a:t>
            </a:r>
            <a:r>
              <a:rPr lang="en-US" sz="2400" dirty="0"/>
              <a:t> Total Persons by Hotel (stacked bar chart showing adults, children, and babies</a:t>
            </a:r>
            <a:r>
              <a:rPr lang="en-US" sz="2400" dirty="0" smtClean="0"/>
              <a:t>).</a:t>
            </a:r>
          </a:p>
          <a:p>
            <a:endParaRPr lang="en-US" sz="2400" dirty="0"/>
          </a:p>
          <a:p>
            <a:pPr marL="285750" indent="-285750">
              <a:buFont typeface="Wingdings" panose="05000000000000000000" pitchFamily="2" charset="2"/>
              <a:buChar char="§"/>
            </a:pPr>
            <a:r>
              <a:rPr lang="en-US" sz="2400" dirty="0"/>
              <a:t>City Hotel has higher stays on weekends</a:t>
            </a:r>
            <a:r>
              <a:rPr lang="en-US" sz="2400" dirty="0" smtClean="0"/>
              <a:t>.</a:t>
            </a:r>
          </a:p>
          <a:p>
            <a:pPr marL="285750" indent="-285750">
              <a:buFont typeface="Wingdings" panose="05000000000000000000" pitchFamily="2" charset="2"/>
              <a:buChar char="§"/>
            </a:pPr>
            <a:endParaRPr lang="en-US" sz="2400" dirty="0" smtClean="0"/>
          </a:p>
          <a:p>
            <a:pPr marL="285750" indent="-285750">
              <a:buFont typeface="Wingdings" panose="05000000000000000000" pitchFamily="2" charset="2"/>
              <a:buChar char="§"/>
            </a:pPr>
            <a:r>
              <a:rPr lang="en-US" sz="2400" dirty="0"/>
              <a:t>Families (with children) prefer Resort Hotels for longer </a:t>
            </a:r>
            <a:r>
              <a:rPr lang="en-US" sz="2400" dirty="0" smtClean="0"/>
              <a:t>vacations.</a:t>
            </a:r>
          </a:p>
          <a:p>
            <a:pPr marL="285750" indent="-285750">
              <a:buFont typeface="Wingdings" panose="05000000000000000000" pitchFamily="2" charset="2"/>
              <a:buChar char="§"/>
            </a:pPr>
            <a:endParaRPr lang="en-US" sz="2400" dirty="0" smtClean="0"/>
          </a:p>
          <a:p>
            <a:pPr marL="285750" indent="-285750">
              <a:buFont typeface="Wingdings" panose="05000000000000000000" pitchFamily="2" charset="2"/>
              <a:buChar char="§"/>
            </a:pPr>
            <a:r>
              <a:rPr lang="en-US" sz="2400" dirty="0"/>
              <a:t>175 countries indicate diverse international </a:t>
            </a:r>
            <a:r>
              <a:rPr lang="en-US" sz="2400" dirty="0" smtClean="0"/>
              <a:t>guests.</a:t>
            </a:r>
            <a:endParaRPr lang="en-IN" sz="2400" dirty="0"/>
          </a:p>
        </p:txBody>
      </p:sp>
    </p:spTree>
    <p:extLst>
      <p:ext uri="{BB962C8B-B14F-4D97-AF65-F5344CB8AC3E}">
        <p14:creationId xmlns:p14="http://schemas.microsoft.com/office/powerpoint/2010/main" val="4884375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Rectangle 2"/>
          <p:cNvSpPr/>
          <p:nvPr/>
        </p:nvSpPr>
        <p:spPr>
          <a:xfrm>
            <a:off x="209249" y="513846"/>
            <a:ext cx="11781046" cy="923330"/>
          </a:xfrm>
          <a:prstGeom prst="rect">
            <a:avLst/>
          </a:prstGeom>
          <a:noFill/>
        </p:spPr>
        <p:txBody>
          <a:bodyPr wrap="none" lIns="91440" tIns="45720" rIns="91440" bIns="45720">
            <a:spAutoFit/>
          </a:bodyPr>
          <a:lstStyle/>
          <a:p>
            <a:pPr algn="ctr"/>
            <a:r>
              <a:rPr lang="en-US" sz="5400" b="1" dirty="0">
                <a:latin typeface="Baskerville Old Face" panose="02020602080505020303" pitchFamily="18" charset="0"/>
              </a:rPr>
              <a:t>Month with Maximum Number of Guests</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9719" y="1570989"/>
            <a:ext cx="6740576" cy="3716022"/>
          </a:xfrm>
          <a:prstGeom prst="rect">
            <a:avLst/>
          </a:prstGeom>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TextBox 4"/>
          <p:cNvSpPr txBox="1"/>
          <p:nvPr/>
        </p:nvSpPr>
        <p:spPr>
          <a:xfrm>
            <a:off x="297473" y="1765426"/>
            <a:ext cx="4952246" cy="4154984"/>
          </a:xfrm>
          <a:prstGeom prst="rect">
            <a:avLst/>
          </a:prstGeom>
          <a:noFill/>
        </p:spPr>
        <p:txBody>
          <a:bodyPr wrap="square" rtlCol="0">
            <a:spAutoFit/>
          </a:bodyPr>
          <a:lstStyle/>
          <a:p>
            <a:r>
              <a:rPr lang="en-US" sz="2400" b="1" dirty="0" smtClean="0"/>
              <a:t>Visual :</a:t>
            </a:r>
            <a:r>
              <a:rPr lang="en-US" sz="2400" dirty="0" smtClean="0"/>
              <a:t> </a:t>
            </a:r>
            <a:r>
              <a:rPr lang="en-US" sz="2400" dirty="0"/>
              <a:t>Line </a:t>
            </a:r>
            <a:r>
              <a:rPr lang="en-US" sz="2400" dirty="0" smtClean="0"/>
              <a:t>or </a:t>
            </a:r>
            <a:r>
              <a:rPr lang="en-US" sz="2400" dirty="0"/>
              <a:t>chart by month showing total guests (from </a:t>
            </a:r>
            <a:r>
              <a:rPr lang="en-US" sz="2400" dirty="0" err="1"/>
              <a:t>total_persons</a:t>
            </a:r>
            <a:r>
              <a:rPr lang="en-US" sz="2400" dirty="0"/>
              <a:t> field). </a:t>
            </a:r>
            <a:endParaRPr lang="en-US" sz="2400" dirty="0" smtClean="0"/>
          </a:p>
          <a:p>
            <a:endParaRPr lang="en-US" sz="2400" b="1" dirty="0"/>
          </a:p>
          <a:p>
            <a:r>
              <a:rPr lang="en-US" sz="2400" b="1" dirty="0" smtClean="0"/>
              <a:t>Insight</a:t>
            </a:r>
            <a:r>
              <a:rPr lang="en-US" sz="2400" b="1" dirty="0"/>
              <a:t>:</a:t>
            </a:r>
            <a:r>
              <a:rPr lang="en-US" sz="2400" dirty="0"/>
              <a:t> The dashboard data shows clear seasonal variations — </a:t>
            </a:r>
            <a:r>
              <a:rPr lang="en-US" sz="2400" dirty="0" smtClean="0"/>
              <a:t>May</a:t>
            </a:r>
            <a:r>
              <a:rPr lang="en-US" sz="2400" dirty="0" smtClean="0"/>
              <a:t> </a:t>
            </a:r>
            <a:r>
              <a:rPr lang="en-US" sz="2400" dirty="0" smtClean="0"/>
              <a:t>Month </a:t>
            </a:r>
            <a:r>
              <a:rPr lang="en-US" sz="2400" dirty="0"/>
              <a:t>had the highest bookings</a:t>
            </a:r>
            <a:r>
              <a:rPr lang="en-US" sz="2400" dirty="0" smtClean="0"/>
              <a:t>.</a:t>
            </a:r>
          </a:p>
          <a:p>
            <a:endParaRPr lang="en-US" sz="2400" dirty="0"/>
          </a:p>
          <a:p>
            <a:r>
              <a:rPr lang="en-US" sz="2400" b="1" dirty="0"/>
              <a:t>Conclusion:</a:t>
            </a:r>
            <a:r>
              <a:rPr lang="en-US" sz="2400" dirty="0"/>
              <a:t> The hotel can increase pricing during peak months and run promotions in low-demand months.</a:t>
            </a:r>
            <a:endParaRPr lang="en-IN" sz="2400" dirty="0"/>
          </a:p>
        </p:txBody>
      </p:sp>
    </p:spTree>
    <p:extLst>
      <p:ext uri="{BB962C8B-B14F-4D97-AF65-F5344CB8AC3E}">
        <p14:creationId xmlns:p14="http://schemas.microsoft.com/office/powerpoint/2010/main" val="12238491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sp>
        <p:nvSpPr>
          <p:cNvPr id="3" name="TextBox 2"/>
          <p:cNvSpPr txBox="1"/>
          <p:nvPr/>
        </p:nvSpPr>
        <p:spPr>
          <a:xfrm>
            <a:off x="353085" y="1267485"/>
            <a:ext cx="9424658" cy="5262979"/>
          </a:xfrm>
          <a:prstGeom prst="rect">
            <a:avLst/>
          </a:prstGeom>
          <a:noFill/>
        </p:spPr>
        <p:txBody>
          <a:bodyPr wrap="square" rtlCol="0">
            <a:spAutoFit/>
          </a:bodyPr>
          <a:lstStyle/>
          <a:p>
            <a:pPr marL="285750" indent="-285750">
              <a:buFont typeface="Wingdings" panose="05000000000000000000" pitchFamily="2" charset="2"/>
              <a:buChar char="§"/>
            </a:pPr>
            <a:r>
              <a:rPr lang="en-US" sz="2400" b="1" dirty="0"/>
              <a:t>City Hotels receive more bookings than Resort Hotels</a:t>
            </a:r>
            <a:r>
              <a:rPr lang="en-US" sz="2400" dirty="0"/>
              <a:t>, but they also have a </a:t>
            </a:r>
            <a:r>
              <a:rPr lang="en-US" sz="2400" dirty="0" err="1"/>
              <a:t>highor</a:t>
            </a:r>
            <a:r>
              <a:rPr lang="en-US" sz="2400" dirty="0"/>
              <a:t> cancellation rate</a:t>
            </a:r>
            <a:r>
              <a:rPr lang="en-US" sz="2400" dirty="0" smtClean="0"/>
              <a:t>..</a:t>
            </a:r>
            <a:endParaRPr lang="en-US" sz="2400" dirty="0" smtClean="0"/>
          </a:p>
          <a:p>
            <a:endParaRPr lang="en-US" sz="2400" dirty="0"/>
          </a:p>
          <a:p>
            <a:pPr marL="285750" indent="-285750">
              <a:buFont typeface="Wingdings" panose="05000000000000000000" pitchFamily="2" charset="2"/>
              <a:buChar char="§"/>
            </a:pPr>
            <a:r>
              <a:rPr lang="en-US" sz="2400" b="1" dirty="0"/>
              <a:t>Most guests prefer the 'A' room type</a:t>
            </a:r>
            <a:r>
              <a:rPr lang="en-US" sz="2400" dirty="0"/>
              <a:t>, so hotels should increase the number of these rooms to earn more revenue and meet customer demand</a:t>
            </a:r>
            <a:r>
              <a:rPr lang="en-US" sz="2400" dirty="0" smtClean="0"/>
              <a:t>.</a:t>
            </a:r>
          </a:p>
          <a:p>
            <a:endParaRPr lang="en-US" sz="2400" dirty="0"/>
          </a:p>
          <a:p>
            <a:pPr marL="285750" indent="-285750">
              <a:buFont typeface="Wingdings" panose="05000000000000000000" pitchFamily="2" charset="2"/>
              <a:buChar char="§"/>
            </a:pPr>
            <a:r>
              <a:rPr lang="en-US" sz="2400" b="1" dirty="0"/>
              <a:t>Peak booking months are May to August</a:t>
            </a:r>
            <a:r>
              <a:rPr lang="en-US" sz="2400" dirty="0"/>
              <a:t>, especially </a:t>
            </a:r>
            <a:r>
              <a:rPr lang="en-US" sz="2400" dirty="0" smtClean="0"/>
              <a:t>May</a:t>
            </a:r>
            <a:r>
              <a:rPr lang="en-US" sz="2400" dirty="0" smtClean="0"/>
              <a:t>. </a:t>
            </a:r>
            <a:r>
              <a:rPr lang="en-US" sz="2400" dirty="0"/>
              <a:t>Hotels should plan resources during peak months and offer promotions or discounts during off-season months to maintain business</a:t>
            </a:r>
            <a:r>
              <a:rPr lang="en-US" sz="2400" dirty="0" smtClean="0"/>
              <a:t>.</a:t>
            </a:r>
          </a:p>
          <a:p>
            <a:endParaRPr lang="en-US" sz="2400" dirty="0"/>
          </a:p>
          <a:p>
            <a:pPr marL="285750" indent="-285750">
              <a:buFont typeface="Wingdings" panose="05000000000000000000" pitchFamily="2" charset="2"/>
              <a:buChar char="§"/>
            </a:pPr>
            <a:r>
              <a:rPr lang="en-US" sz="2400" b="1" dirty="0"/>
              <a:t>There are fewer returning customers</a:t>
            </a:r>
            <a:r>
              <a:rPr lang="en-US" sz="2400" dirty="0"/>
              <a:t>, so hotels should collect feedback, improve services, and introduce loyalty programs to increase repeat guest visits.</a:t>
            </a:r>
            <a:endParaRPr lang="en-IN" sz="2400" dirty="0"/>
          </a:p>
        </p:txBody>
      </p:sp>
      <p:sp>
        <p:nvSpPr>
          <p:cNvPr id="4" name="Rectangle 3"/>
          <p:cNvSpPr/>
          <p:nvPr/>
        </p:nvSpPr>
        <p:spPr>
          <a:xfrm>
            <a:off x="4050640" y="269402"/>
            <a:ext cx="3312125"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rPr>
              <a:t>Conclusion</a:t>
            </a:r>
            <a:endParaRPr lang="en-US" sz="5400" b="1" cap="none" spc="0" dirty="0">
              <a:ln w="0"/>
              <a:solidFill>
                <a:schemeClr val="tx1"/>
              </a:solidFill>
              <a:effectLst>
                <a:outerShdw blurRad="38100" dist="19050" dir="2700000" algn="tl" rotWithShape="0">
                  <a:schemeClr val="dk1">
                    <a:alpha val="40000"/>
                  </a:schemeClr>
                </a:outerShdw>
              </a:effectLst>
              <a:latin typeface="Baskerville Old Face" panose="02020602080505020303"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5445" y="1629624"/>
            <a:ext cx="3333750" cy="3257550"/>
          </a:xfrm>
          <a:prstGeom prst="rect">
            <a:avLst/>
          </a:prstGeom>
        </p:spPr>
      </p:pic>
    </p:spTree>
    <p:extLst>
      <p:ext uri="{BB962C8B-B14F-4D97-AF65-F5344CB8AC3E}">
        <p14:creationId xmlns:p14="http://schemas.microsoft.com/office/powerpoint/2010/main" val="749873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545" cy="68580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487" y="1233487"/>
            <a:ext cx="5153025" cy="439102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5674" y="2253040"/>
            <a:ext cx="3013400" cy="4220188"/>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4837758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902</Words>
  <Application>Microsoft Office PowerPoint</Application>
  <PresentationFormat>Widescreen</PresentationFormat>
  <Paragraphs>113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Rounded MT Bold</vt:lpstr>
      <vt:lpstr>Baskerville Old Face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53</cp:revision>
  <dcterms:created xsi:type="dcterms:W3CDTF">2025-11-03T08:01:57Z</dcterms:created>
  <dcterms:modified xsi:type="dcterms:W3CDTF">2025-11-03T17:38:41Z</dcterms:modified>
</cp:coreProperties>
</file>